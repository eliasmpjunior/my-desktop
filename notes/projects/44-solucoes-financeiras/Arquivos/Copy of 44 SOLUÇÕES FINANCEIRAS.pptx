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Poppins"/>
      <p:regular r:id="rId28"/>
      <p:bold r:id="rId29"/>
      <p:italic r:id="rId30"/>
      <p:boldItalic r:id="rId31"/>
    </p:embeddedFont>
    <p:embeddedFont>
      <p:font typeface="Merriweather"/>
      <p:regular r:id="rId32"/>
      <p:bold r:id="rId33"/>
      <p:italic r:id="rId34"/>
      <p:boldItalic r:id="rId35"/>
    </p:embeddedFont>
    <p:embeddedFont>
      <p:font typeface="Karla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Poppins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6.xml"/><Relationship Id="rId33" Type="http://schemas.openxmlformats.org/officeDocument/2006/relationships/font" Target="fonts/Merriweather-bold.fntdata"/><Relationship Id="rId10" Type="http://schemas.openxmlformats.org/officeDocument/2006/relationships/slide" Target="slides/slide5.xml"/><Relationship Id="rId32" Type="http://schemas.openxmlformats.org/officeDocument/2006/relationships/font" Target="fonts/Merriweather-regular.fntdata"/><Relationship Id="rId13" Type="http://schemas.openxmlformats.org/officeDocument/2006/relationships/slide" Target="slides/slide8.xml"/><Relationship Id="rId35" Type="http://schemas.openxmlformats.org/officeDocument/2006/relationships/font" Target="fonts/Merriweather-boldItalic.fntdata"/><Relationship Id="rId12" Type="http://schemas.openxmlformats.org/officeDocument/2006/relationships/slide" Target="slides/slide7.xml"/><Relationship Id="rId34" Type="http://schemas.openxmlformats.org/officeDocument/2006/relationships/font" Target="fonts/Merriweather-italic.fntdata"/><Relationship Id="rId15" Type="http://schemas.openxmlformats.org/officeDocument/2006/relationships/slide" Target="slides/slide10.xml"/><Relationship Id="rId37" Type="http://schemas.openxmlformats.org/officeDocument/2006/relationships/font" Target="fonts/Karla-bold.fntdata"/><Relationship Id="rId14" Type="http://schemas.openxmlformats.org/officeDocument/2006/relationships/slide" Target="slides/slide9.xml"/><Relationship Id="rId36" Type="http://schemas.openxmlformats.org/officeDocument/2006/relationships/font" Target="fonts/Karla-regular.fntdata"/><Relationship Id="rId17" Type="http://schemas.openxmlformats.org/officeDocument/2006/relationships/slide" Target="slides/slide12.xml"/><Relationship Id="rId39" Type="http://schemas.openxmlformats.org/officeDocument/2006/relationships/font" Target="fonts/Karla-boldItalic.fntdata"/><Relationship Id="rId16" Type="http://schemas.openxmlformats.org/officeDocument/2006/relationships/slide" Target="slides/slide11.xml"/><Relationship Id="rId38" Type="http://schemas.openxmlformats.org/officeDocument/2006/relationships/font" Target="fonts/Karla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641f872404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641f872404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641f872404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641f872404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641f872404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641f872404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641f872404_0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641f872404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641f872404_0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641f872404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641f872404_0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641f872404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641f872404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641f872404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641f872404_0_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641f872404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641f872404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641f872404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641f872404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641f872404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641f872404_0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641f872404_0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641f872404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641f872404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641f872404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641f872404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1.globo.com/economia/noticia/2019/01/08/caixa-ja-pratica-juros-de-mercado-no-credito-imobiliario-compare-as-taxas-dos-bancos-para-a-casa-propria.ghtml" TargetMode="External"/><Relationship Id="rId4" Type="http://schemas.openxmlformats.org/officeDocument/2006/relationships/hyperlink" Target="https://g1.globo.com/economia/noticia/2019/08/30/trabalho-informal-avanca-para-413percent-da-populacao-ocupada-e-atinge-nivel-recorde-diz-ibge.ghtml" TargetMode="External"/><Relationship Id="rId5" Type="http://schemas.openxmlformats.org/officeDocument/2006/relationships/hyperlink" Target="https://economia.estadao.com.br/noticias/geral,de-cada-100-imoveis-vendidos--41-foram-devolvidos-as-construtoras-em-2015,10000006708" TargetMode="External"/><Relationship Id="rId6" Type="http://schemas.openxmlformats.org/officeDocument/2006/relationships/hyperlink" Target="https://g1.globo.com/economia/noticia/2019/06/10/bolsa-brasileira-atinge-11-mi-de-investidores-em-maio-diz-b3.g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Relationship Id="rId4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869125" y="1289250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SOLUÇÕES FINANCEIRAS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748725" y="1833450"/>
            <a:ext cx="63960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None/>
            </a:pPr>
            <a:r>
              <a:rPr lang="en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Uma nova forma de fazer negócios</a:t>
            </a:r>
            <a:endParaRPr/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0025" y="1095150"/>
            <a:ext cx="1116239" cy="7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76975"/>
            <a:ext cx="4166400" cy="50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 44 </a:t>
            </a:r>
            <a:r>
              <a:rPr lang="en" sz="2000"/>
              <a:t>é um hub para conexões entre devedores e investidores com base no capital coletivo.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/>
              <a:t>Nosso principal diferencial é a poder emprestar dinheiro para a parcela de trabalhadores informais, facilitação de crédito 100% online, rompendo a burocracia e garantindo retorno aos investidores.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000"/>
              <a:t>É assim que nos vemos a</a:t>
            </a:r>
            <a:r>
              <a:rPr lang="en" sz="2000"/>
              <a:t>proximando as pessoas de seus objetivos.</a:t>
            </a:r>
            <a:endParaRPr sz="2000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3">
            <a:alphaModFix/>
          </a:blip>
          <a:srcRect b="3466" l="0" r="0" t="0"/>
          <a:stretch/>
        </p:blipFill>
        <p:spPr>
          <a:xfrm>
            <a:off x="1061600" y="783850"/>
            <a:ext cx="2125625" cy="13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283200" y="487363"/>
            <a:ext cx="5439600" cy="7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R$ 615,3 Bilhões</a:t>
            </a:r>
            <a:endParaRPr sz="4800"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283200" y="1081625"/>
            <a:ext cx="5334900" cy="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Em crédito imobiliário no Brasil.</a:t>
            </a:r>
            <a:endParaRPr/>
          </a:p>
        </p:txBody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283200" y="1407100"/>
            <a:ext cx="5439600" cy="7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100/41</a:t>
            </a:r>
            <a:endParaRPr sz="4800"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35550" y="2021713"/>
            <a:ext cx="5334900" cy="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 cada 100 </a:t>
            </a:r>
            <a:r>
              <a:rPr lang="en"/>
              <a:t>imóveis</a:t>
            </a:r>
            <a:r>
              <a:rPr lang="en"/>
              <a:t> vendidos  41 se tornam distratos.(2015)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5670450" y="244075"/>
            <a:ext cx="30000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https://g1.globo.com/economia/noticia/2019/01/08/caixa-ja-pratica-juros-de-mercado-no-credito-imobiliario-compare-as-taxas-dos-bancos-para-a-casa-propria.ghtml</a:t>
            </a:r>
            <a:endParaRPr/>
          </a:p>
        </p:txBody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416175" y="3489550"/>
            <a:ext cx="5439600" cy="85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41,3%</a:t>
            </a:r>
            <a:endParaRPr sz="4800"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468525" y="4259200"/>
            <a:ext cx="5334900" cy="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Da </a:t>
            </a:r>
            <a:r>
              <a:rPr lang="en"/>
              <a:t>população</a:t>
            </a:r>
            <a:r>
              <a:rPr lang="en"/>
              <a:t> economicamente ativa </a:t>
            </a:r>
            <a:r>
              <a:rPr lang="en"/>
              <a:t>são de trabalhadores</a:t>
            </a:r>
            <a:r>
              <a:rPr lang="en"/>
              <a:t> informais.</a:t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5722800" y="3792400"/>
            <a:ext cx="30000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https://g1.globo.com/economia/noticia/2019/08/30/trabalho-informal-avanca-para-413percent-da-populacao-ocupada-e-atinge-nivel-recorde-diz-ibge.ghtml</a:t>
            </a: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5722800" y="1321300"/>
            <a:ext cx="30000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https://economia.estadao.com.br/noticias/geral,de-cada-100-imoveis-vendidos--41-foram-devolvidos-as-construtoras-em-2015,10000006708</a:t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5803425" y="2599750"/>
            <a:ext cx="3000000" cy="7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https://g1.globo.com/economia/noticia/2019/06/10/bolsa-brasileira-atinge-11-mi-de-investidores-em-maio-diz-b3.ghtml</a:t>
            </a:r>
            <a:endParaRPr/>
          </a:p>
        </p:txBody>
      </p:sp>
      <p:sp>
        <p:nvSpPr>
          <p:cNvPr id="87" name="Google Shape;87;p15"/>
          <p:cNvSpPr txBox="1"/>
          <p:nvPr>
            <p:ph type="title"/>
          </p:nvPr>
        </p:nvSpPr>
        <p:spPr>
          <a:xfrm>
            <a:off x="335550" y="2571750"/>
            <a:ext cx="5439600" cy="7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1,1 Milhão </a:t>
            </a:r>
            <a:endParaRPr sz="4800"/>
          </a:p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387900" y="3186363"/>
            <a:ext cx="5334900" cy="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De investidores na Bolsa de Valores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OS BANCOS</a:t>
            </a:r>
            <a:endParaRPr b="1"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om suas regras rígidas, não </a:t>
            </a:r>
            <a:r>
              <a:rPr lang="en"/>
              <a:t>financiam</a:t>
            </a:r>
            <a:r>
              <a:rPr lang="en"/>
              <a:t> a compra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400"/>
              <a:t>O CONSUMIDOR</a:t>
            </a:r>
            <a:endParaRPr b="1"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perde o sonho da casa própria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400"/>
              <a:t>A INCORPORADORA</a:t>
            </a:r>
            <a:endParaRPr b="1"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perde a venda e seu produto encalha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750" y="718325"/>
            <a:ext cx="381000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148800" y="235800"/>
            <a:ext cx="8132100" cy="46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E se</a:t>
            </a:r>
            <a:r>
              <a:rPr lang="en"/>
              <a:t> </a:t>
            </a:r>
            <a:r>
              <a:rPr b="1" lang="en"/>
              <a:t>todos</a:t>
            </a:r>
            <a:r>
              <a:rPr lang="en"/>
              <a:t> </a:t>
            </a:r>
            <a:r>
              <a:rPr b="1" lang="en"/>
              <a:t>ganhassem</a:t>
            </a:r>
            <a:r>
              <a:rPr lang="en"/>
              <a:t> </a:t>
            </a:r>
            <a:r>
              <a:rPr lang="en" sz="7200"/>
              <a:t>ao invés de</a:t>
            </a:r>
            <a:r>
              <a:rPr lang="en"/>
              <a:t> </a:t>
            </a:r>
            <a:r>
              <a:rPr lang="en" sz="4800"/>
              <a:t>perder</a:t>
            </a:r>
            <a:r>
              <a:rPr lang="en"/>
              <a:t>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Uma nova forma de financiamento</a:t>
            </a:r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 b="0" l="33832" r="0" t="0"/>
          <a:stretch/>
        </p:blipFill>
        <p:spPr>
          <a:xfrm>
            <a:off x="-575973" y="1309338"/>
            <a:ext cx="3488575" cy="371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2128925" y="2623475"/>
            <a:ext cx="20073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Investidores no Brasil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4600" y="3166850"/>
            <a:ext cx="3989325" cy="20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/>
        </p:nvSpPr>
        <p:spPr>
          <a:xfrm>
            <a:off x="6115075" y="2623475"/>
            <a:ext cx="28224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Brasileiros com renda informal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 rotWithShape="1">
          <a:blip r:embed="rId5">
            <a:alphaModFix/>
          </a:blip>
          <a:srcRect b="3466" l="0" r="0" t="0"/>
          <a:stretch/>
        </p:blipFill>
        <p:spPr>
          <a:xfrm>
            <a:off x="4225425" y="2691034"/>
            <a:ext cx="1487725" cy="949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8"/>
          <p:cNvCxnSpPr>
            <a:stCxn id="105" idx="3"/>
            <a:endCxn id="109" idx="1"/>
          </p:cNvCxnSpPr>
          <p:nvPr/>
        </p:nvCxnSpPr>
        <p:spPr>
          <a:xfrm>
            <a:off x="2912602" y="3166376"/>
            <a:ext cx="1312800" cy="6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8"/>
          <p:cNvCxnSpPr>
            <a:stCxn id="109" idx="3"/>
            <a:endCxn id="107" idx="0"/>
          </p:cNvCxnSpPr>
          <p:nvPr/>
        </p:nvCxnSpPr>
        <p:spPr>
          <a:xfrm>
            <a:off x="5713150" y="3165934"/>
            <a:ext cx="1346100" cy="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925" y="752013"/>
            <a:ext cx="1029325" cy="102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2782800" y="573225"/>
            <a:ext cx="32307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Consumidor envia os dados do imóvel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" name="Google Shape;118;p19"/>
          <p:cNvCxnSpPr/>
          <p:nvPr/>
        </p:nvCxnSpPr>
        <p:spPr>
          <a:xfrm flipH="1" rot="10800000">
            <a:off x="3285900" y="999925"/>
            <a:ext cx="22422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9" name="Google Shape;119;p19"/>
          <p:cNvPicPr preferRelativeResize="0"/>
          <p:nvPr/>
        </p:nvPicPr>
        <p:blipFill rotWithShape="1">
          <a:blip r:embed="rId4">
            <a:alphaModFix/>
          </a:blip>
          <a:srcRect b="3466" l="0" r="0" t="0"/>
          <a:stretch/>
        </p:blipFill>
        <p:spPr>
          <a:xfrm>
            <a:off x="6568825" y="938115"/>
            <a:ext cx="1029325" cy="65714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2705850" y="1699950"/>
            <a:ext cx="37323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44 avalia o imóvel e propõe a taxa de juros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" name="Google Shape;121;p19"/>
          <p:cNvCxnSpPr/>
          <p:nvPr/>
        </p:nvCxnSpPr>
        <p:spPr>
          <a:xfrm flipH="1" rot="10800000">
            <a:off x="3277050" y="1699950"/>
            <a:ext cx="22422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id="122" name="Google Shape;122;p19"/>
          <p:cNvPicPr preferRelativeResize="0"/>
          <p:nvPr/>
        </p:nvPicPr>
        <p:blipFill rotWithShape="1">
          <a:blip r:embed="rId4">
            <a:alphaModFix/>
          </a:blip>
          <a:srcRect b="3466" l="0" r="0" t="0"/>
          <a:stretch/>
        </p:blipFill>
        <p:spPr>
          <a:xfrm>
            <a:off x="1158125" y="3488153"/>
            <a:ext cx="1029325" cy="65714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2416500" y="3009575"/>
            <a:ext cx="43110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 imóvel é oferecido aos investidores na plataforma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" name="Google Shape;124;p19"/>
          <p:cNvCxnSpPr/>
          <p:nvPr/>
        </p:nvCxnSpPr>
        <p:spPr>
          <a:xfrm flipH="1" rot="10800000">
            <a:off x="3285900" y="3436275"/>
            <a:ext cx="22422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" name="Google Shape;125;p19"/>
          <p:cNvSpPr txBox="1"/>
          <p:nvPr/>
        </p:nvSpPr>
        <p:spPr>
          <a:xfrm>
            <a:off x="2561100" y="4136300"/>
            <a:ext cx="4021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Diversos investidores compram partes da dívida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" name="Google Shape;126;p19"/>
          <p:cNvCxnSpPr/>
          <p:nvPr/>
        </p:nvCxnSpPr>
        <p:spPr>
          <a:xfrm flipH="1" rot="10800000">
            <a:off x="3277050" y="4136300"/>
            <a:ext cx="22422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id="127" name="Google Shape;12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8650" y="3153742"/>
            <a:ext cx="1400700" cy="132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8650" y="3116375"/>
            <a:ext cx="1400700" cy="14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/>
        </p:nvSpPr>
        <p:spPr>
          <a:xfrm>
            <a:off x="2118150" y="573225"/>
            <a:ext cx="45777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44 efetua o pagamento ao banco e à incorporadora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4" name="Google Shape;134;p20"/>
          <p:cNvCxnSpPr/>
          <p:nvPr/>
        </p:nvCxnSpPr>
        <p:spPr>
          <a:xfrm flipH="1" rot="10800000">
            <a:off x="3285900" y="999925"/>
            <a:ext cx="22422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5" name="Google Shape;135;p20"/>
          <p:cNvPicPr preferRelativeResize="0"/>
          <p:nvPr/>
        </p:nvPicPr>
        <p:blipFill rotWithShape="1">
          <a:blip r:embed="rId3">
            <a:alphaModFix/>
          </a:blip>
          <a:srcRect b="3466" l="0" r="0" t="0"/>
          <a:stretch/>
        </p:blipFill>
        <p:spPr>
          <a:xfrm>
            <a:off x="762825" y="999915"/>
            <a:ext cx="1029325" cy="65714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/>
        </p:nvSpPr>
        <p:spPr>
          <a:xfrm>
            <a:off x="2561100" y="1699950"/>
            <a:ext cx="4021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 imóvel é alienado à 44 Soluções Financeiras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" name="Google Shape;137;p20"/>
          <p:cNvCxnSpPr/>
          <p:nvPr/>
        </p:nvCxnSpPr>
        <p:spPr>
          <a:xfrm flipH="1" rot="10800000">
            <a:off x="3277050" y="1699950"/>
            <a:ext cx="22422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id="138" name="Google Shape;138;p20"/>
          <p:cNvPicPr preferRelativeResize="0"/>
          <p:nvPr/>
        </p:nvPicPr>
        <p:blipFill rotWithShape="1">
          <a:blip r:embed="rId3">
            <a:alphaModFix/>
          </a:blip>
          <a:srcRect b="3466" l="0" r="0" t="0"/>
          <a:stretch/>
        </p:blipFill>
        <p:spPr>
          <a:xfrm>
            <a:off x="7187525" y="3409978"/>
            <a:ext cx="1029325" cy="65714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 txBox="1"/>
          <p:nvPr/>
        </p:nvSpPr>
        <p:spPr>
          <a:xfrm>
            <a:off x="2416500" y="3009575"/>
            <a:ext cx="43110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 comprador efetua o pagamento mensal da dívida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" name="Google Shape;140;p20"/>
          <p:cNvCxnSpPr/>
          <p:nvPr/>
        </p:nvCxnSpPr>
        <p:spPr>
          <a:xfrm flipH="1" rot="10800000">
            <a:off x="3285900" y="3436275"/>
            <a:ext cx="22422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p20"/>
          <p:cNvSpPr txBox="1"/>
          <p:nvPr/>
        </p:nvSpPr>
        <p:spPr>
          <a:xfrm>
            <a:off x="2015100" y="4145300"/>
            <a:ext cx="5113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44 repassa o valor corrigido anualmente aos investidores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" name="Google Shape;142;p20"/>
          <p:cNvCxnSpPr/>
          <p:nvPr/>
        </p:nvCxnSpPr>
        <p:spPr>
          <a:xfrm flipH="1" rot="10800000">
            <a:off x="3277050" y="4136300"/>
            <a:ext cx="22422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id="143" name="Google Shape;14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622" y="3914736"/>
            <a:ext cx="1087332" cy="102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5">
            <a:alphaModFix/>
          </a:blip>
          <a:srcRect b="54080" l="0" r="65565" t="3354"/>
          <a:stretch/>
        </p:blipFill>
        <p:spPr>
          <a:xfrm>
            <a:off x="6873413" y="167725"/>
            <a:ext cx="1483249" cy="1283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15195" y="1394700"/>
            <a:ext cx="1399675" cy="9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4625" y="3885726"/>
            <a:ext cx="1087325" cy="108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4625" y="2690636"/>
            <a:ext cx="1087326" cy="1038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Mas… e se o devedor não pagar?</a:t>
            </a:r>
            <a:endParaRPr/>
          </a:p>
        </p:txBody>
      </p:sp>
      <p:pic>
        <p:nvPicPr>
          <p:cNvPr id="153" name="Google Shape;15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5525"/>
            <a:ext cx="2814675" cy="345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/>
        </p:nvSpPr>
        <p:spPr>
          <a:xfrm>
            <a:off x="3146725" y="1568000"/>
            <a:ext cx="5685600" cy="3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 imóvel é recuperado e vendido para ressarcir os investidores;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30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Com 100% do valor do imóvel alienado e um financiamento menor que o valor do bem, há ótima margem para negociação, acelerando esse processo;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30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 tempo de recuperação e venda do imóvel é o risco que o investidor assume e por isso a plataforma permite que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ele avalie minuciosamente os dados do imóvel antes do aporte;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3000"/>
              </a:spcBef>
              <a:spcAft>
                <a:spcPts val="300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Somos engajados na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missão do relacionamento ganha-ganha entre todos os envolvidos.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muda com a 44? </a:t>
            </a:r>
            <a:endParaRPr/>
          </a:p>
        </p:txBody>
      </p:sp>
      <p:pic>
        <p:nvPicPr>
          <p:cNvPr id="160" name="Google Shape;160;p22"/>
          <p:cNvPicPr preferRelativeResize="0"/>
          <p:nvPr/>
        </p:nvPicPr>
        <p:blipFill rotWithShape="1">
          <a:blip r:embed="rId3">
            <a:alphaModFix/>
          </a:blip>
          <a:srcRect b="2430" l="1043" r="1434" t="2268"/>
          <a:stretch/>
        </p:blipFill>
        <p:spPr>
          <a:xfrm>
            <a:off x="1276188" y="1444150"/>
            <a:ext cx="6591676" cy="34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title"/>
          </p:nvPr>
        </p:nvSpPr>
        <p:spPr>
          <a:xfrm>
            <a:off x="699750" y="500925"/>
            <a:ext cx="2577900" cy="10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 para os investidores?</a:t>
            </a:r>
            <a:endParaRPr/>
          </a:p>
        </p:txBody>
      </p:sp>
      <p:sp>
        <p:nvSpPr>
          <p:cNvPr id="166" name="Google Shape;166;p23"/>
          <p:cNvSpPr txBox="1"/>
          <p:nvPr>
            <p:ph idx="1" type="body"/>
          </p:nvPr>
        </p:nvSpPr>
        <p:spPr>
          <a:xfrm>
            <a:off x="4644675" y="500925"/>
            <a:ext cx="4166400" cy="44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Possibilidade de investimento com risco menor e boa rentabilidade;</a:t>
            </a:r>
            <a:endParaRPr/>
          </a:p>
          <a:p>
            <a:pPr indent="-311150" lvl="0" marL="457200" rtl="0" algn="l">
              <a:lnSpc>
                <a:spcPct val="114000"/>
              </a:lnSpc>
              <a:spcBef>
                <a:spcPts val="3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Contratos via </a:t>
            </a:r>
            <a:r>
              <a:rPr i="1" lang="en"/>
              <a:t>blockchain</a:t>
            </a:r>
            <a:r>
              <a:rPr lang="en"/>
              <a:t>, resultando em agilidade no processo e quase nenhuma burocracia;</a:t>
            </a:r>
            <a:endParaRPr/>
          </a:p>
          <a:p>
            <a:pPr indent="-311150" lvl="0" marL="457200" rtl="0" algn="l">
              <a:lnSpc>
                <a:spcPct val="114000"/>
              </a:lnSpc>
              <a:spcBef>
                <a:spcPts val="3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Possibilidade de transferência do título com toda a segurança do </a:t>
            </a:r>
            <a:r>
              <a:rPr i="1" lang="en"/>
              <a:t>blockchain</a:t>
            </a:r>
            <a:r>
              <a:rPr lang="en"/>
              <a:t>;</a:t>
            </a:r>
            <a:endParaRPr/>
          </a:p>
          <a:p>
            <a:pPr indent="-311150" lvl="0" marL="457200" rtl="0" algn="l">
              <a:lnSpc>
                <a:spcPct val="114000"/>
              </a:lnSpc>
              <a:spcBef>
                <a:spcPts val="3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Uma nova opção para investidores conservadores habituados ao tradicional investimento em imóveis;</a:t>
            </a:r>
            <a:endParaRPr/>
          </a:p>
          <a:p>
            <a:pPr indent="-311150" lvl="0" marL="457200" rtl="0" algn="l">
              <a:lnSpc>
                <a:spcPct val="114000"/>
              </a:lnSpc>
              <a:spcBef>
                <a:spcPts val="3000"/>
              </a:spcBef>
              <a:spcAft>
                <a:spcPts val="3000"/>
              </a:spcAft>
              <a:buSzPts val="1300"/>
              <a:buChar char="●"/>
            </a:pPr>
            <a:r>
              <a:rPr lang="en"/>
              <a:t>D</a:t>
            </a:r>
            <a:r>
              <a:rPr lang="en"/>
              <a:t>iversificação da carteira vinculados ao setor imobiliário;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 como a 44 gera receita?</a:t>
            </a:r>
            <a:endParaRPr/>
          </a:p>
        </p:txBody>
      </p:sp>
      <p:sp>
        <p:nvSpPr>
          <p:cNvPr id="172" name="Google Shape;172;p24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Taxa de 1% sobre a operação de financiamento do imóvel;</a:t>
            </a:r>
            <a:endParaRPr/>
          </a:p>
          <a:p>
            <a:pPr indent="-311150" lvl="0" marL="457200" rtl="0" algn="l">
              <a:lnSpc>
                <a:spcPct val="114000"/>
              </a:lnSpc>
              <a:spcBef>
                <a:spcPts val="3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diferença entre as entradas mensais no fluxo de caixa e os pagamentos anuais aos investidores gera um capital que pode ser investido;</a:t>
            </a:r>
            <a:endParaRPr/>
          </a:p>
          <a:p>
            <a:pPr indent="-311150" lvl="0" marL="457200" rtl="0" algn="l">
              <a:lnSpc>
                <a:spcPct val="114000"/>
              </a:lnSpc>
              <a:spcBef>
                <a:spcPts val="3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diferença de valor entre o financiamento e a venda do imóvel recuperado também gera capital.</a:t>
            </a:r>
            <a:endParaRPr/>
          </a:p>
          <a:p>
            <a:pPr indent="0" lvl="0" marL="0" rtl="0" algn="l">
              <a:spcBef>
                <a:spcPts val="30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2062" y="1505700"/>
            <a:ext cx="3083375" cy="332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vem a seguir?</a:t>
            </a:r>
            <a:endParaRPr/>
          </a:p>
        </p:txBody>
      </p:sp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Apesar de parecer complexo, o desenvolvimento da plataforma poderá ser feito entre 3 a 6 meses considerando uma mão de obra </a:t>
            </a:r>
            <a:r>
              <a:rPr i="1" lang="en"/>
              <a:t>full time</a:t>
            </a:r>
            <a:r>
              <a:rPr lang="en"/>
              <a:t>;</a:t>
            </a:r>
            <a:endParaRPr/>
          </a:p>
          <a:p>
            <a:pPr indent="-311150" lvl="0" marL="457200" rtl="0" algn="l">
              <a:lnSpc>
                <a:spcPct val="114000"/>
              </a:lnSpc>
              <a:spcBef>
                <a:spcPts val="3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 custo de infraestrutura pode ser bastante reduzido mediante o uso de serviços de nuvens, como o Amazon AWS;</a:t>
            </a:r>
            <a:endParaRPr/>
          </a:p>
          <a:p>
            <a:pPr indent="-311150" lvl="0" marL="457200" rtl="0" algn="l">
              <a:lnSpc>
                <a:spcPct val="114000"/>
              </a:lnSpc>
              <a:spcBef>
                <a:spcPts val="3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Consultoria jurídica, financeira, de marketing e segurança de dados;</a:t>
            </a:r>
            <a:endParaRPr/>
          </a:p>
          <a:p>
            <a:pPr indent="-311150" lvl="0" marL="457200" rtl="0" algn="l">
              <a:lnSpc>
                <a:spcPct val="114000"/>
              </a:lnSpc>
              <a:spcBef>
                <a:spcPts val="3000"/>
              </a:spcBef>
              <a:spcAft>
                <a:spcPts val="3000"/>
              </a:spcAft>
              <a:buSzPts val="1300"/>
              <a:buChar char="●"/>
            </a:pPr>
            <a:r>
              <a:rPr lang="en"/>
              <a:t>Analisar possíveis expansões do modelo de negócio;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Agradecemos por tudo!</a:t>
            </a:r>
            <a:endParaRPr/>
          </a:p>
        </p:txBody>
      </p:sp>
      <p:pic>
        <p:nvPicPr>
          <p:cNvPr id="185" name="Google Shape;185;p26"/>
          <p:cNvPicPr preferRelativeResize="0"/>
          <p:nvPr/>
        </p:nvPicPr>
        <p:blipFill rotWithShape="1">
          <a:blip r:embed="rId3">
            <a:alphaModFix/>
          </a:blip>
          <a:srcRect b="0" l="0" r="0" t="10491"/>
          <a:stretch/>
        </p:blipFill>
        <p:spPr>
          <a:xfrm>
            <a:off x="176537" y="1780650"/>
            <a:ext cx="936625" cy="110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2825" y="1780650"/>
            <a:ext cx="1128712" cy="112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1487" y="1760012"/>
            <a:ext cx="1128712" cy="112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7462" y="3417887"/>
            <a:ext cx="1108075" cy="110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6"/>
          <p:cNvPicPr preferRelativeResize="0"/>
          <p:nvPr/>
        </p:nvPicPr>
        <p:blipFill rotWithShape="1">
          <a:blip r:embed="rId7">
            <a:alphaModFix/>
          </a:blip>
          <a:srcRect b="0" l="4897" r="48950" t="0"/>
          <a:stretch/>
        </p:blipFill>
        <p:spPr>
          <a:xfrm>
            <a:off x="5236312" y="3417887"/>
            <a:ext cx="1060450" cy="110648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6"/>
          <p:cNvSpPr txBox="1"/>
          <p:nvPr/>
        </p:nvSpPr>
        <p:spPr>
          <a:xfrm>
            <a:off x="1132838" y="1747787"/>
            <a:ext cx="18621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Karla"/>
              <a:buNone/>
            </a:pPr>
            <a:r>
              <a:rPr b="1" i="0" lang="en" sz="1400" u="non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Alan Miranda</a:t>
            </a:r>
            <a:endParaRPr b="1" i="0" sz="1400" u="non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rla"/>
              <a:buNone/>
            </a:pPr>
            <a:r>
              <a:rPr b="0" i="0" lang="en" sz="1200" u="non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Negócios Imobiliários | Programação</a:t>
            </a:r>
            <a:endParaRPr/>
          </a:p>
        </p:txBody>
      </p:sp>
      <p:sp>
        <p:nvSpPr>
          <p:cNvPr id="191" name="Google Shape;191;p26"/>
          <p:cNvSpPr txBox="1"/>
          <p:nvPr/>
        </p:nvSpPr>
        <p:spPr>
          <a:xfrm>
            <a:off x="4015112" y="1747775"/>
            <a:ext cx="2408100" cy="13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Karla"/>
              <a:buNone/>
            </a:pPr>
            <a:r>
              <a:rPr b="1" i="0" lang="en" sz="1400" u="non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Elias Magalhães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rla"/>
              <a:buNone/>
            </a:pPr>
            <a:r>
              <a:rPr b="0" i="0" lang="en" sz="1200" u="non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Engenheiro de Software | Engenheiro Civil | BIM Developer</a:t>
            </a:r>
            <a:endParaRPr/>
          </a:p>
        </p:txBody>
      </p:sp>
      <p:sp>
        <p:nvSpPr>
          <p:cNvPr id="192" name="Google Shape;192;p26"/>
          <p:cNvSpPr txBox="1"/>
          <p:nvPr/>
        </p:nvSpPr>
        <p:spPr>
          <a:xfrm>
            <a:off x="7062350" y="1747025"/>
            <a:ext cx="20589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Karla"/>
              <a:buNone/>
            </a:pPr>
            <a:r>
              <a:rPr b="1" i="0" lang="en" sz="1400" u="non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Gustavo Albuquerque</a:t>
            </a:r>
            <a:endParaRPr b="1" i="0" sz="1400" u="non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rla"/>
              <a:buNone/>
            </a:pPr>
            <a:r>
              <a:rPr b="0" i="0" lang="en" sz="1200" u="non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Analista de Qualidade na ATIVA Investimentos</a:t>
            </a:r>
            <a:endParaRPr/>
          </a:p>
        </p:txBody>
      </p:sp>
      <p:sp>
        <p:nvSpPr>
          <p:cNvPr id="193" name="Google Shape;193;p26"/>
          <p:cNvSpPr txBox="1"/>
          <p:nvPr/>
        </p:nvSpPr>
        <p:spPr>
          <a:xfrm>
            <a:off x="2164937" y="3417875"/>
            <a:ext cx="1912800" cy="10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Karla"/>
              <a:buNone/>
            </a:pPr>
            <a:r>
              <a:rPr b="1" i="0" lang="en" sz="1400" u="non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Gustavo Bezerra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Karla"/>
              <a:buNone/>
            </a:pPr>
            <a:r>
              <a:rPr b="0" i="0" lang="en" sz="1200" u="non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Empreendedor | Estagiário em inovação na Globo</a:t>
            </a:r>
            <a:endParaRPr/>
          </a:p>
        </p:txBody>
      </p:sp>
      <p:sp>
        <p:nvSpPr>
          <p:cNvPr id="194" name="Google Shape;194;p26"/>
          <p:cNvSpPr txBox="1"/>
          <p:nvPr/>
        </p:nvSpPr>
        <p:spPr>
          <a:xfrm>
            <a:off x="6343425" y="3417875"/>
            <a:ext cx="21414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Karla"/>
              <a:buNone/>
            </a:pPr>
            <a:r>
              <a:rPr b="1" i="0" lang="en" sz="1400" u="non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Joanina Freitas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i="0" lang="en" sz="1200" u="non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Arquiteta e Urbanista | Joanina Freitas Arquitetura e Design</a:t>
            </a:r>
            <a:endParaRPr sz="1200"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